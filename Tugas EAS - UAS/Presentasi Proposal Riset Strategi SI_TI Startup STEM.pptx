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4D9C1A5-87AB-4183-A461-BCC2A022BEBE}" type="datetimeFigureOut">
              <a:rPr lang="en-ID" smtClean="0"/>
              <a:t>19/12/2025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AD69-D2E8-433D-906F-A4935B96435C}" type="slidenum">
              <a:rPr lang="en-ID" smtClean="0"/>
              <a:t>‹#›</a:t>
            </a:fld>
            <a:endParaRPr lang="en-ID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94758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C1A5-87AB-4183-A461-BCC2A022BEBE}" type="datetimeFigureOut">
              <a:rPr lang="en-ID" smtClean="0"/>
              <a:t>19/12/2025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AD69-D2E8-433D-906F-A4935B96435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2450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C1A5-87AB-4183-A461-BCC2A022BEBE}" type="datetimeFigureOut">
              <a:rPr lang="en-ID" smtClean="0"/>
              <a:t>19/12/2025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AD69-D2E8-433D-906F-A4935B96435C}" type="slidenum">
              <a:rPr lang="en-ID" smtClean="0"/>
              <a:t>‹#›</a:t>
            </a:fld>
            <a:endParaRPr lang="en-ID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07173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C1A5-87AB-4183-A461-BCC2A022BEBE}" type="datetimeFigureOut">
              <a:rPr lang="en-ID" smtClean="0"/>
              <a:t>19/12/2025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AD69-D2E8-433D-906F-A4935B96435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006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C1A5-87AB-4183-A461-BCC2A022BEBE}" type="datetimeFigureOut">
              <a:rPr lang="en-ID" smtClean="0"/>
              <a:t>19/12/2025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AD69-D2E8-433D-906F-A4935B96435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862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C1A5-87AB-4183-A461-BCC2A022BEBE}" type="datetimeFigureOut">
              <a:rPr lang="en-ID" smtClean="0"/>
              <a:t>19/12/2025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AD69-D2E8-433D-906F-A4935B96435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1583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C1A5-87AB-4183-A461-BCC2A022BEBE}" type="datetimeFigureOut">
              <a:rPr lang="en-ID" smtClean="0"/>
              <a:t>19/12/2025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AD69-D2E8-433D-906F-A4935B96435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9366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C1A5-87AB-4183-A461-BCC2A022BEBE}" type="datetimeFigureOut">
              <a:rPr lang="en-ID" smtClean="0"/>
              <a:t>19/12/2025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AD69-D2E8-433D-906F-A4935B96435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2766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C1A5-87AB-4183-A461-BCC2A022BEBE}" type="datetimeFigureOut">
              <a:rPr lang="en-ID" smtClean="0"/>
              <a:t>19/12/2025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AD69-D2E8-433D-906F-A4935B96435C}" type="slidenum">
              <a:rPr lang="en-ID" smtClean="0"/>
              <a:t>‹#›</a:t>
            </a:fld>
            <a:endParaRPr lang="en-ID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082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C1A5-87AB-4183-A461-BCC2A022BEBE}" type="datetimeFigureOut">
              <a:rPr lang="en-ID" smtClean="0"/>
              <a:t>19/12/2025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AD69-D2E8-433D-906F-A4935B96435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485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C1A5-87AB-4183-A461-BCC2A022BEBE}" type="datetimeFigureOut">
              <a:rPr lang="en-ID" smtClean="0"/>
              <a:t>19/12/2025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AD69-D2E8-433D-906F-A4935B96435C}" type="slidenum">
              <a:rPr lang="en-ID" smtClean="0"/>
              <a:t>‹#›</a:t>
            </a:fld>
            <a:endParaRPr lang="en-ID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22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4D9C1A5-87AB-4183-A461-BCC2A022BEBE}" type="datetimeFigureOut">
              <a:rPr lang="en-ID" smtClean="0"/>
              <a:t>19/12/2025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4E1AD69-D2E8-433D-906F-A4935B96435C}" type="slidenum">
              <a:rPr lang="en-ID" smtClean="0"/>
              <a:t>‹#›</a:t>
            </a:fld>
            <a:endParaRPr lang="en-ID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98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E084-CB28-4BC2-C27B-11DA728AA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D" sz="2800" b="1" dirty="0" err="1"/>
              <a:t>Perencanaan</a:t>
            </a:r>
            <a:r>
              <a:rPr lang="en-ID" sz="2800" b="1" dirty="0"/>
              <a:t> </a:t>
            </a:r>
            <a:r>
              <a:rPr lang="en-ID" sz="2800" b="1" dirty="0" err="1"/>
              <a:t>Strategis</a:t>
            </a:r>
            <a:r>
              <a:rPr lang="en-ID" sz="2800" b="1" dirty="0"/>
              <a:t> SI/TI pada Startup </a:t>
            </a:r>
            <a:r>
              <a:rPr lang="en-ID" sz="2800" b="1" dirty="0" err="1"/>
              <a:t>Edukasi</a:t>
            </a:r>
            <a:r>
              <a:rPr lang="en-ID" sz="2800" b="1" dirty="0"/>
              <a:t> STEM "2GT"</a:t>
            </a:r>
            <a:r>
              <a:rPr lang="en-ID" sz="2800" dirty="0"/>
              <a:t> </a:t>
            </a:r>
            <a:r>
              <a:rPr lang="en-ID" sz="2800" i="1" dirty="0" err="1"/>
              <a:t>Melalui</a:t>
            </a:r>
            <a:r>
              <a:rPr lang="en-ID" sz="2800" i="1" dirty="0"/>
              <a:t> Integrasi </a:t>
            </a:r>
            <a:r>
              <a:rPr lang="en-ID" sz="2800" i="1" dirty="0" err="1"/>
              <a:t>Metodologi</a:t>
            </a:r>
            <a:r>
              <a:rPr lang="en-ID" sz="2800" i="1" dirty="0"/>
              <a:t> Ward &amp; </a:t>
            </a:r>
            <a:r>
              <a:rPr lang="en-ID" sz="2800" i="1" dirty="0" err="1"/>
              <a:t>Peppard</a:t>
            </a:r>
            <a:r>
              <a:rPr lang="en-ID" sz="2800" i="1" dirty="0"/>
              <a:t> dan Business Model Canvas</a:t>
            </a:r>
            <a:endParaRPr lang="en-ID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CF73A-6523-FC9D-3F31-CC1CE1BCAE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Kahpi Baiquni Arifani (24066020001)</a:t>
            </a:r>
          </a:p>
          <a:p>
            <a:r>
              <a:rPr lang="en-US" b="1" dirty="0" err="1"/>
              <a:t>Objek</a:t>
            </a:r>
            <a:r>
              <a:rPr lang="en-US" b="1" dirty="0"/>
              <a:t> </a:t>
            </a:r>
            <a:r>
              <a:rPr lang="en-US" b="1" dirty="0" err="1"/>
              <a:t>Studi</a:t>
            </a:r>
            <a:r>
              <a:rPr lang="en-US" b="1"/>
              <a:t>:</a:t>
            </a:r>
            <a:r>
              <a:rPr lang="en-US"/>
              <a:t> </a:t>
            </a:r>
          </a:p>
          <a:p>
            <a:r>
              <a:rPr lang="en-US"/>
              <a:t>Startup </a:t>
            </a:r>
            <a:r>
              <a:rPr lang="en-US" dirty="0"/>
              <a:t>"2GT" (2 Grew Their)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07732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A7EE1-0F86-DD6B-9D63-9A5AAEB42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Latar</a:t>
            </a:r>
            <a:r>
              <a:rPr lang="en-ID" dirty="0"/>
              <a:t> </a:t>
            </a:r>
            <a:r>
              <a:rPr lang="en-ID" dirty="0" err="1"/>
              <a:t>Belakang</a:t>
            </a:r>
            <a:r>
              <a:rPr lang="en-ID" dirty="0"/>
              <a:t> &amp; Urgency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0B714B-F19A-0C9B-550E-019D3F9F54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128" y="1871579"/>
            <a:ext cx="1012012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Mengapa Riset Ini Penting?</a:t>
            </a:r>
            <a:endParaRPr kumimoji="0" lang="en-US" altLang="en-US" sz="2000" b="1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altLang="en-US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Ledakan Pasar EdTech: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Pasar EdTech Indonesia diproyeksikan tumbuh dari USD 3,23 Miliar (2024) menjadi USD 8,81 Miliar (2033) dengan CAGR 11,79%.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d-ID" altLang="en-US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Momentum Kurikulum Merdeka: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Fokus pada P5 (Projek Penguatan Profil Pelajar Pancasila) tema "Rekayasa &amp; Teknologi" menciptakan permintaan tinggi untuk pendidikan 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d-ID" altLang="en-US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Paradoks Startup Mikro: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2GT memiliki ambisi pertumbuhan eksponensial namun hanya dijalankan oleh </a:t>
            </a: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orang tim inti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dengan sumber daya terbatas.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d-ID" altLang="en-US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Masalah Utama: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Ketidakharmonisan antara strategi bisnis yang lincah (agile) dengan infrastruktur TI yang manual dan reaktif.</a:t>
            </a:r>
          </a:p>
        </p:txBody>
      </p:sp>
    </p:spTree>
    <p:extLst>
      <p:ext uri="{BB962C8B-B14F-4D97-AF65-F5344CB8AC3E}">
        <p14:creationId xmlns:p14="http://schemas.microsoft.com/office/powerpoint/2010/main" val="267591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2D94C-45AD-A23C-495D-6FA29D717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Rumusan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(Pain Points)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F47E44-8AA2-4385-D74E-9D97A2B39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128" y="2084832"/>
            <a:ext cx="10393945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Realitas Operasional 2GT Saat Ini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altLang="en-US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Inefisiensi Akut: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Pendaftaran via Google Forms, rekap keuangan manual di Excel, dan penagihan satu per satu via WhatsApp.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d-ID" altLang="en-US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Silos (Pulau Data):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siswa, keuangan, dan kurikulum terpisah-pisah, menghambat pengambilan keputusan berbasis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d-ID" altLang="en-US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Resiko Bisnis: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Tanpa sistem yang terintegrasi, 2GT menghadapi risiko </a:t>
            </a:r>
            <a:r>
              <a:rPr kumimoji="0" lang="id-ID" altLang="en-US" sz="2000" b="0" i="1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burnout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 dan kehilangan pengetahuan organisasional jika personil keluar.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d-ID" altLang="en-US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Pertanyaan Riset: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Bagaimana merancang arsitektur TI yang </a:t>
            </a: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Low-Cost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namun </a:t>
            </a: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High-Impact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untuk mendukung skalabilitas tim kecil?.</a:t>
            </a:r>
          </a:p>
        </p:txBody>
      </p:sp>
    </p:spTree>
    <p:extLst>
      <p:ext uri="{BB962C8B-B14F-4D97-AF65-F5344CB8AC3E}">
        <p14:creationId xmlns:p14="http://schemas.microsoft.com/office/powerpoint/2010/main" val="297049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C825F-22B7-ABD2-75F5-6F718926C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Metodologi</a:t>
            </a:r>
            <a:r>
              <a:rPr lang="en-ID" dirty="0"/>
              <a:t> </a:t>
            </a:r>
            <a:r>
              <a:rPr lang="en-ID" dirty="0" err="1"/>
              <a:t>Penelitian</a:t>
            </a:r>
            <a:endParaRPr lang="en-ID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85EFB7-DE1D-B8B3-D291-7CA7DEBBE6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129" y="1943190"/>
            <a:ext cx="972007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Pendekatan Inovatif: Ward &amp; Peppard + BMC</a:t>
            </a:r>
            <a:endParaRPr kumimoji="0" lang="en-US" altLang="en-US" sz="2000" b="1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altLang="en-US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Mengapa Modifikasi?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Metode standar Ward &amp; Peppard seringkali terlalu kaku untuk startup.</a:t>
            </a:r>
            <a:endParaRPr kumimoji="0" lang="en-US" altLang="en-US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d-ID" altLang="en-US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Solusi: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Mengintegrasikan </a:t>
            </a: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Model Canvas (BMC)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 dalam tahap analisis internal.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BMC: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Memetakan model bisnis yang dinamis (Value Prop, Revenue Stream).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Ward &amp; Peppard:</a:t>
            </a: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Menerjemahkan kebutuhan bisnis tersebut menjadi strategi sistem informasi.</a:t>
            </a:r>
            <a:endParaRPr kumimoji="0" lang="en-US" altLang="en-US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d-ID" altLang="en-US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en-US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Instrumen Pendukung:</a:t>
            </a:r>
            <a:endParaRPr kumimoji="0" lang="id-ID" altLang="en-US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 Chain Analysis (Rantai Nilai).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PESTEL &amp; Porter’s Five Forces (Analisis Eksternal).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en-US" sz="20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McFarlan Strategic Grid (Prioritas Portofolio).</a:t>
            </a:r>
          </a:p>
        </p:txBody>
      </p:sp>
    </p:spTree>
    <p:extLst>
      <p:ext uri="{BB962C8B-B14F-4D97-AF65-F5344CB8AC3E}">
        <p14:creationId xmlns:p14="http://schemas.microsoft.com/office/powerpoint/2010/main" val="1719661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E1E7-04E9-0761-A17A-33E1EFA6C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Bisnis</a:t>
            </a:r>
            <a:r>
              <a:rPr lang="en-ID" dirty="0"/>
              <a:t> (</a:t>
            </a:r>
            <a:r>
              <a:rPr lang="en-ID" dirty="0" err="1"/>
              <a:t>Eksternal</a:t>
            </a:r>
            <a:r>
              <a:rPr lang="en-ID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2A8C3A-8C55-5BFC-0778-7FF17AA5AA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128" y="2084832"/>
            <a:ext cx="998842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Lanskap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Kompetisi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yang "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Bertekanan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Tinggi“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Porter's Five Forces: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Rivalitas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Tinggi: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Bersaing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dengan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pemain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Ruangguru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dan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spesialis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(Coding Bee).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Barriers to Entry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Rendah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Siapapun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bisa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membuka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kursus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coding online.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Peluang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(Opportunities):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Adopsi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teknologi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Low-Code/No-Code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ekosistem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SaaS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murah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menurunkan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hambatan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teknologi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bagi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2GT.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Ancaman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(Threats):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perlindungan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(UU PDP) yang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ketat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mewajibkan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keamanan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mumpuni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92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502D8-7739-4F83-3CD9-755DB88B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Analisis</a:t>
            </a:r>
            <a:r>
              <a:rPr lang="en-ID" dirty="0"/>
              <a:t> Internal (BMC &amp; Value Chain)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CD9F7A-6232-81E6-9B20-D65B14684A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128" y="2084832"/>
            <a:ext cx="1024287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Dari Model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Bisnis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Kebutuhan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 Proposition: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Kurikulum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STEM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berbasis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Laporan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Membutuhkan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LMS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Tergamifikasi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Orang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Streams: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Iuran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bulanan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kit →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Membutuhkan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Billing System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Gateway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Relationships: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Komunitas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Personal Assistance →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Membutuhkan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CRM Omnichannel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(Integrasi WA/IG).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 Chain: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Aktivitas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Operasional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Penjadwalan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dan "Marketing"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adalah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titik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terlemah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butuh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otomatisasi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segera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1161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6F00C-A143-515F-0690-726981DE6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Formulasi</a:t>
            </a:r>
            <a:r>
              <a:rPr lang="en-ID" dirty="0"/>
              <a:t> Strategi SI/TI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1D18E5-D617-3606-7165-7250842C49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128" y="2084832"/>
            <a:ext cx="10147455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Strategi: "Cloud-First &amp; Zero-Maintenance“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Mengingat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hanya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 orang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tanpa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khusus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strateginya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adalah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Buy over Build: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Prioritaskan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sewa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layanan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SaaS (Software as a Service)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daripada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membangun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aplikasi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sendiri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Low-Code Integration: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Gunakan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"Lem Digital"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seperti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Zapier/iPaaS)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menghubungkan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aplikasi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Portofolio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(McFarlan Grid):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Gamified LMS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Wajah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Layanan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Integrated CRM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Pertumbuhan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Operational: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 Accounting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Jantung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Finansial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943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6EA37-4594-3CE1-CC24-671E53CF3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Arsitektur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Masa </a:t>
            </a:r>
            <a:r>
              <a:rPr lang="en-ID" dirty="0" err="1"/>
              <a:t>Depan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C585-60A8-66F8-8289-B5152FF10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Ekosistem</a:t>
            </a:r>
            <a:r>
              <a:rPr lang="en-ID" b="1" dirty="0"/>
              <a:t> </a:t>
            </a:r>
            <a:r>
              <a:rPr lang="en-ID" b="1" dirty="0" err="1"/>
              <a:t>Terintegrasi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Digital Front Door:</a:t>
            </a:r>
            <a:r>
              <a:rPr lang="en-ID" dirty="0"/>
              <a:t> Website &amp; Portal </a:t>
            </a:r>
            <a:r>
              <a:rPr lang="en-ID" dirty="0" err="1"/>
              <a:t>Pendaftaran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Core SaaS:</a:t>
            </a:r>
            <a:endParaRPr lang="en-ID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b="1" dirty="0"/>
              <a:t>LMS:</a:t>
            </a:r>
            <a:r>
              <a:rPr lang="en-ID" dirty="0"/>
              <a:t> Moodle/Canvas (</a:t>
            </a:r>
            <a:r>
              <a:rPr lang="en-ID" dirty="0" err="1"/>
              <a:t>Belajar</a:t>
            </a:r>
            <a:r>
              <a:rPr lang="en-ID" dirty="0"/>
              <a:t> </a:t>
            </a:r>
            <a:r>
              <a:rPr lang="en-ID" dirty="0" err="1"/>
              <a:t>Mengajar</a:t>
            </a:r>
            <a:r>
              <a:rPr lang="en-ID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b="1" dirty="0"/>
              <a:t>CRM:</a:t>
            </a:r>
            <a:r>
              <a:rPr lang="en-ID" dirty="0"/>
              <a:t> HubSpot/Salesforce (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b="1" dirty="0"/>
              <a:t>Accounting:</a:t>
            </a:r>
            <a:r>
              <a:rPr lang="en-ID" dirty="0"/>
              <a:t> Xero/</a:t>
            </a:r>
            <a:r>
              <a:rPr lang="en-ID" dirty="0" err="1"/>
              <a:t>Jurnal</a:t>
            </a:r>
            <a:r>
              <a:rPr lang="en-ID" dirty="0"/>
              <a:t> (</a:t>
            </a:r>
            <a:r>
              <a:rPr lang="en-ID" dirty="0" err="1"/>
              <a:t>Keuangan</a:t>
            </a:r>
            <a:r>
              <a:rPr lang="en-ID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Integration Hub:</a:t>
            </a:r>
            <a:r>
              <a:rPr lang="en-ID" dirty="0"/>
              <a:t> Middleware yang </a:t>
            </a:r>
            <a:r>
              <a:rPr lang="en-ID" dirty="0" err="1"/>
              <a:t>mengotomatiskan</a:t>
            </a:r>
            <a:r>
              <a:rPr lang="en-ID" dirty="0"/>
              <a:t> </a:t>
            </a:r>
            <a:r>
              <a:rPr lang="en-ID" dirty="0" err="1"/>
              <a:t>aliran</a:t>
            </a:r>
            <a:r>
              <a:rPr lang="en-ID" dirty="0"/>
              <a:t> data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(</a:t>
            </a:r>
            <a:r>
              <a:rPr lang="en-ID" dirty="0" err="1"/>
              <a:t>misal</a:t>
            </a:r>
            <a:r>
              <a:rPr lang="en-ID" dirty="0"/>
              <a:t>: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bayar</a:t>
            </a:r>
            <a:r>
              <a:rPr lang="en-ID" dirty="0"/>
              <a:t> → Invoice </a:t>
            </a:r>
            <a:r>
              <a:rPr lang="en-ID" dirty="0" err="1"/>
              <a:t>otomatis</a:t>
            </a:r>
            <a:r>
              <a:rPr lang="en-ID" dirty="0"/>
              <a:t> → </a:t>
            </a:r>
            <a:r>
              <a:rPr lang="en-ID" dirty="0" err="1"/>
              <a:t>Akses</a:t>
            </a:r>
            <a:r>
              <a:rPr lang="en-ID" dirty="0"/>
              <a:t> LMS </a:t>
            </a:r>
            <a:r>
              <a:rPr lang="en-ID" dirty="0" err="1"/>
              <a:t>terbuka</a:t>
            </a:r>
            <a:r>
              <a:rPr lang="en-ID" dirty="0"/>
              <a:t>).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66916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F4271-C8D1-BF9F-BC13-6D72719EA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Peta Jalan </a:t>
            </a:r>
            <a:r>
              <a:rPr lang="en-ID" dirty="0" err="1"/>
              <a:t>Implementasi</a:t>
            </a:r>
            <a:r>
              <a:rPr lang="en-ID" dirty="0"/>
              <a:t> (Roadmap)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CC9C4B-7DC4-8353-6E62-195959569C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128" y="2025467"/>
            <a:ext cx="577818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Eksekusi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Bertahap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(18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Bulan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1: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Fondasi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Digital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Bulan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1-3)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Migrasi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Workspace (Email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Profesional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Setup Cloud Accounting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Cashflow).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Revamp Website.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2: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Operasi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Inti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Bulan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4-9)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LMS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Utama).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CRM Dasar.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Integrasi Payment Gateway.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3: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Skalabilitas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Bulan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10-18)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Integrasi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Penuh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(iPaaS).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Analitik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Audit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Keamanan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5670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ECEDF-5BF1-8054-B31C-D31B05B56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Kesimpulan &amp; </a:t>
            </a:r>
            <a:r>
              <a:rPr lang="en-ID" dirty="0" err="1"/>
              <a:t>Manfaat</a:t>
            </a:r>
            <a:endParaRPr lang="en-ID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E695FCE-B6CF-CAC3-AC02-E0D7101136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128" y="2084832"/>
            <a:ext cx="1004408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Transformasi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Menuju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Startup yang Scalable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Efisiensi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Mengurangi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beban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manual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hingga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70%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melalui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otomatisasi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Akurasi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"Single Source of Truth"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keuangan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akademik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Skalabilitas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Memungkinkan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 orang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melayani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ratusan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siswa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dengan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kualitas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layanan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tetap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personal.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Keunggulan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Kompetitif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Roadmap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teknologi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menjadi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intelektual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meningkatkan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valuasi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investor.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49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6EFF7-245B-4A2F-0E32-40A2B05C1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Penutup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DBF4-BAF0-16AC-4155-C0B5109AF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b="1" dirty="0"/>
              <a:t>Terima Kasih</a:t>
            </a:r>
            <a:r>
              <a:rPr lang="fi-FI" dirty="0"/>
              <a:t> </a:t>
            </a:r>
            <a:r>
              <a:rPr lang="fi-FI" i="1" dirty="0"/>
              <a:t>Sesi Tanya Jawab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636918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</TotalTime>
  <Words>814</Words>
  <Application>Microsoft Office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Tw Cen MT</vt:lpstr>
      <vt:lpstr>Tw Cen MT Condensed</vt:lpstr>
      <vt:lpstr>Wingdings</vt:lpstr>
      <vt:lpstr>Wingdings 3</vt:lpstr>
      <vt:lpstr>Integral</vt:lpstr>
      <vt:lpstr>Perencanaan Strategis SI/TI pada Startup Edukasi STEM "2GT" Melalui Integrasi Metodologi Ward &amp; Peppard dan Business Model Canvas</vt:lpstr>
      <vt:lpstr>Latar Belakang &amp; Urgency</vt:lpstr>
      <vt:lpstr>Rumusan Masalah (Pain Points)</vt:lpstr>
      <vt:lpstr>Metodologi Penelitian</vt:lpstr>
      <vt:lpstr>Analisis Lingkungan Bisnis (Eksternal)</vt:lpstr>
      <vt:lpstr>Analisis Internal (BMC &amp; Value Chain)</vt:lpstr>
      <vt:lpstr>Formulasi Strategi SI/TI</vt:lpstr>
      <vt:lpstr>Arsitektur Aplikasi Masa Depan</vt:lpstr>
      <vt:lpstr>Peta Jalan Implementasi (Roadmap)</vt:lpstr>
      <vt:lpstr>Kesimpulan &amp; Manfaat</vt:lpstr>
      <vt:lpstr>Penutup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Kahpi Baiquni Arifani</dc:creator>
  <cp:lastModifiedBy>Kahpi Baiquni Arifani</cp:lastModifiedBy>
  <cp:revision>2</cp:revision>
  <dcterms:created xsi:type="dcterms:W3CDTF">2025-12-19T02:49:33Z</dcterms:created>
  <dcterms:modified xsi:type="dcterms:W3CDTF">2025-12-19T03:05:39Z</dcterms:modified>
</cp:coreProperties>
</file>